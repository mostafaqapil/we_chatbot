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cademy" panose="020B0604020202020204" charset="0"/>
      <p:regular r:id="rId11"/>
    </p:embeddedFont>
    <p:embeddedFont>
      <p:font typeface="Codec Pro Bold" panose="020B0604020202020204" charset="0"/>
      <p:regular r:id="rId12"/>
    </p:embeddedFont>
    <p:embeddedFont>
      <p:font typeface="Poppins" panose="00000500000000000000" pitchFamily="2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1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mostafaqapil/WE_Chatbot" TargetMode="Externa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4345752" y="-825227"/>
            <a:ext cx="11112227" cy="11112227"/>
          </a:xfrm>
          <a:custGeom>
            <a:avLst/>
            <a:gdLst/>
            <a:ahLst/>
            <a:cxnLst/>
            <a:rect l="l" t="t" r="r" b="b"/>
            <a:pathLst>
              <a:path w="11112227" h="11112227">
                <a:moveTo>
                  <a:pt x="11112226" y="11112227"/>
                </a:moveTo>
                <a:lnTo>
                  <a:pt x="0" y="11112227"/>
                </a:lnTo>
                <a:lnTo>
                  <a:pt x="0" y="0"/>
                </a:lnTo>
                <a:lnTo>
                  <a:pt x="11112226" y="0"/>
                </a:lnTo>
                <a:lnTo>
                  <a:pt x="11112226" y="11112227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35193" y="444398"/>
            <a:ext cx="18052807" cy="2867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41"/>
              </a:lnSpc>
            </a:pPr>
            <a:r>
              <a:rPr lang="en-US" sz="11120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WE Chatbot – RAG-based Intelligent Assistant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5193" y="3492381"/>
            <a:ext cx="9592004" cy="37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6"/>
              </a:lnSpc>
              <a:spcBef>
                <a:spcPct val="0"/>
              </a:spcBef>
            </a:pPr>
            <a:r>
              <a:rPr lang="en-US" sz="21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Proof of Concept for Telecom Egypt Customer Support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5193" y="5321069"/>
            <a:ext cx="14783196" cy="655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9"/>
              </a:lnSpc>
              <a:spcBef>
                <a:spcPct val="0"/>
              </a:spcBef>
            </a:pPr>
            <a:r>
              <a:rPr lang="en-US" sz="3435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Presenter: Mostafa Mohamed Qapil – AI Engineer | Data Scientist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548933" y="2027215"/>
            <a:ext cx="8857462" cy="11413199"/>
          </a:xfrm>
          <a:custGeom>
            <a:avLst/>
            <a:gdLst/>
            <a:ahLst/>
            <a:cxnLst/>
            <a:rect l="l" t="t" r="r" b="b"/>
            <a:pathLst>
              <a:path w="8857462" h="11413199">
                <a:moveTo>
                  <a:pt x="0" y="0"/>
                </a:moveTo>
                <a:lnTo>
                  <a:pt x="8857462" y="0"/>
                </a:lnTo>
                <a:lnTo>
                  <a:pt x="8857462" y="11413199"/>
                </a:lnTo>
                <a:lnTo>
                  <a:pt x="0" y="114131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546146" y="2268151"/>
            <a:ext cx="6947432" cy="8485413"/>
          </a:xfrm>
          <a:custGeom>
            <a:avLst/>
            <a:gdLst/>
            <a:ahLst/>
            <a:cxnLst/>
            <a:rect l="l" t="t" r="r" b="b"/>
            <a:pathLst>
              <a:path w="6947432" h="8485413">
                <a:moveTo>
                  <a:pt x="0" y="0"/>
                </a:moveTo>
                <a:lnTo>
                  <a:pt x="6947432" y="0"/>
                </a:lnTo>
                <a:lnTo>
                  <a:pt x="6947432" y="8485413"/>
                </a:lnTo>
                <a:lnTo>
                  <a:pt x="0" y="8485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12072" y="278348"/>
            <a:ext cx="8529915" cy="2867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41"/>
              </a:lnSpc>
            </a:pPr>
            <a:r>
              <a:rPr lang="en-US" sz="11120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Project Objective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2072" y="3918432"/>
            <a:ext cx="10918129" cy="3087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465" lvl="1" indent="-313233" algn="just">
              <a:lnSpc>
                <a:spcPts val="4062"/>
              </a:lnSpc>
              <a:buFont typeface="Arial"/>
              <a:buChar char="•"/>
            </a:pPr>
            <a:r>
              <a:rPr lang="en-US" sz="29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Build an intelligent assistant for Telecom Egypt (WE) customers.</a:t>
            </a:r>
          </a:p>
          <a:p>
            <a:pPr marL="626465" lvl="1" indent="-313233" algn="just">
              <a:lnSpc>
                <a:spcPts val="4062"/>
              </a:lnSpc>
              <a:buFont typeface="Arial"/>
              <a:buChar char="•"/>
            </a:pPr>
            <a:r>
              <a:rPr lang="en-US" sz="29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Support English &amp; Arabic, including Egyptian dialect.</a:t>
            </a:r>
          </a:p>
          <a:p>
            <a:pPr marL="626465" lvl="1" indent="-313233" algn="just">
              <a:lnSpc>
                <a:spcPts val="4062"/>
              </a:lnSpc>
              <a:buFont typeface="Arial"/>
              <a:buChar char="•"/>
            </a:pPr>
            <a:r>
              <a:rPr lang="en-US" sz="29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Retrieve info from official website + uploaded documents.</a:t>
            </a:r>
          </a:p>
          <a:p>
            <a:pPr marL="626465" lvl="1" indent="-313233" algn="just">
              <a:lnSpc>
                <a:spcPts val="4062"/>
              </a:lnSpc>
              <a:spcBef>
                <a:spcPct val="0"/>
              </a:spcBef>
              <a:buFont typeface="Arial"/>
              <a:buChar char="•"/>
            </a:pPr>
            <a:r>
              <a:rPr lang="en-US" sz="29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Showcase practical RAG pipeline implementation.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421303" y="787152"/>
            <a:ext cx="986517" cy="68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7"/>
              </a:lnSpc>
              <a:spcBef>
                <a:spcPct val="0"/>
              </a:spcBef>
            </a:pPr>
            <a:r>
              <a:rPr lang="en-US" sz="3590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47678" y="-1982782"/>
            <a:ext cx="8075295" cy="8229600"/>
          </a:xfrm>
          <a:custGeom>
            <a:avLst/>
            <a:gdLst/>
            <a:ahLst/>
            <a:cxnLst/>
            <a:rect l="l" t="t" r="r" b="b"/>
            <a:pathLst>
              <a:path w="8075295" h="8229600">
                <a:moveTo>
                  <a:pt x="0" y="0"/>
                </a:moveTo>
                <a:lnTo>
                  <a:pt x="8075295" y="0"/>
                </a:lnTo>
                <a:lnTo>
                  <a:pt x="807529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709054" y="1660474"/>
            <a:ext cx="9198047" cy="11115465"/>
          </a:xfrm>
          <a:custGeom>
            <a:avLst/>
            <a:gdLst/>
            <a:ahLst/>
            <a:cxnLst/>
            <a:rect l="l" t="t" r="r" b="b"/>
            <a:pathLst>
              <a:path w="9198047" h="11115465">
                <a:moveTo>
                  <a:pt x="0" y="0"/>
                </a:moveTo>
                <a:lnTo>
                  <a:pt x="9198047" y="0"/>
                </a:lnTo>
                <a:lnTo>
                  <a:pt x="9198047" y="11115465"/>
                </a:lnTo>
                <a:lnTo>
                  <a:pt x="0" y="11115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927617" y="288760"/>
            <a:ext cx="9587886" cy="2867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41"/>
              </a:lnSpc>
            </a:pPr>
            <a:r>
              <a:rPr lang="en-US" sz="11120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Challenges Encountered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90612" y="2886540"/>
            <a:ext cx="10361449" cy="6644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2397" lvl="1" indent="-311199" algn="just">
              <a:lnSpc>
                <a:spcPts val="4035"/>
              </a:lnSpc>
              <a:buFont typeface="Arial"/>
              <a:buChar char="•"/>
            </a:pPr>
            <a:r>
              <a:rPr lang="en-US" sz="28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Hardware Limitations: Could not deploy large LLMs.</a:t>
            </a:r>
          </a:p>
          <a:p>
            <a:pPr algn="just">
              <a:lnSpc>
                <a:spcPts val="4035"/>
              </a:lnSpc>
            </a:pPr>
            <a:endParaRPr lang="en-US" sz="2882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22397" lvl="1" indent="-311199" algn="just">
              <a:lnSpc>
                <a:spcPts val="4035"/>
              </a:lnSpc>
              <a:buFont typeface="Arial"/>
              <a:buChar char="•"/>
            </a:pPr>
            <a:r>
              <a:rPr lang="en-US" sz="28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Web Scraping: Dynamic JS pages required Selenium &amp; headless Chrome.</a:t>
            </a:r>
          </a:p>
          <a:p>
            <a:pPr algn="just">
              <a:lnSpc>
                <a:spcPts val="4035"/>
              </a:lnSpc>
            </a:pPr>
            <a:endParaRPr lang="en-US" sz="2882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22397" lvl="1" indent="-311199" algn="just">
              <a:lnSpc>
                <a:spcPts val="4035"/>
              </a:lnSpc>
              <a:buFont typeface="Arial"/>
              <a:buChar char="•"/>
            </a:pPr>
            <a:r>
              <a:rPr lang="en-US" sz="28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File Diversity: PDF, DOCX, TXT, HTML, images with OCR.</a:t>
            </a:r>
          </a:p>
          <a:p>
            <a:pPr algn="just">
              <a:lnSpc>
                <a:spcPts val="4035"/>
              </a:lnSpc>
            </a:pPr>
            <a:endParaRPr lang="en-US" sz="2882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22397" lvl="1" indent="-311199" algn="just">
              <a:lnSpc>
                <a:spcPts val="4035"/>
              </a:lnSpc>
              <a:buFont typeface="Arial"/>
              <a:buChar char="•"/>
            </a:pPr>
            <a:r>
              <a:rPr lang="en-US" sz="28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Vector Indexing Issues: FAISS path &amp; index loading problems.</a:t>
            </a:r>
          </a:p>
          <a:p>
            <a:pPr algn="just">
              <a:lnSpc>
                <a:spcPts val="4035"/>
              </a:lnSpc>
            </a:pPr>
            <a:endParaRPr lang="en-US" sz="2882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22397" lvl="1" indent="-311199" algn="just">
              <a:lnSpc>
                <a:spcPts val="4035"/>
              </a:lnSpc>
              <a:spcBef>
                <a:spcPct val="0"/>
              </a:spcBef>
              <a:buFont typeface="Arial"/>
              <a:buChar char="•"/>
            </a:pPr>
            <a:r>
              <a:rPr lang="en-US" sz="28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Deployment Constraints: Streamlit local deployment used.</a:t>
            </a:r>
          </a:p>
          <a:p>
            <a:pPr algn="just">
              <a:lnSpc>
                <a:spcPts val="4035"/>
              </a:lnSpc>
              <a:spcBef>
                <a:spcPct val="0"/>
              </a:spcBef>
            </a:pPr>
            <a:endParaRPr lang="en-US" sz="2882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421303" y="8571420"/>
            <a:ext cx="986517" cy="68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7"/>
              </a:lnSpc>
              <a:spcBef>
                <a:spcPct val="0"/>
              </a:spcBef>
            </a:pPr>
            <a:r>
              <a:rPr lang="en-US" sz="3590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919086" y="335065"/>
            <a:ext cx="14449829" cy="880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85"/>
              </a:lnSpc>
            </a:pPr>
            <a:r>
              <a:rPr lang="en-US" sz="6221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Technical Approach &amp; Workflow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421303" y="800264"/>
            <a:ext cx="986517" cy="68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7"/>
              </a:lnSpc>
              <a:spcBef>
                <a:spcPct val="0"/>
              </a:spcBef>
            </a:pPr>
            <a:r>
              <a:rPr lang="en-US" sz="3590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15236" y="2068538"/>
            <a:ext cx="14530364" cy="7052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4" lvl="1" indent="-388617" algn="l">
              <a:lnSpc>
                <a:spcPts val="5039"/>
              </a:lnSpc>
              <a:spcBef>
                <a:spcPct val="0"/>
              </a:spcBef>
              <a:buFont typeface="Arial"/>
              <a:buChar char="•"/>
            </a:pPr>
            <a:r>
              <a:rPr lang="en-US" sz="3599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Data Extraction: Scraped official WE site &amp; cleaned text.</a:t>
            </a:r>
          </a:p>
          <a:p>
            <a:pPr algn="l">
              <a:lnSpc>
                <a:spcPts val="5039"/>
              </a:lnSpc>
              <a:spcBef>
                <a:spcPct val="0"/>
              </a:spcBef>
            </a:pPr>
            <a:endParaRPr lang="en-US" sz="3599" b="1">
              <a:solidFill>
                <a:srgbClr val="FFFFFF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  <a:p>
            <a:pPr marL="777234" lvl="1" indent="-388617" algn="l">
              <a:lnSpc>
                <a:spcPts val="5039"/>
              </a:lnSpc>
              <a:spcBef>
                <a:spcPct val="0"/>
              </a:spcBef>
              <a:buFont typeface="Arial"/>
              <a:buChar char="•"/>
            </a:pPr>
            <a:r>
              <a:rPr lang="en-US" sz="3599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Text Processing: Chunking + normalization for embeddings.</a:t>
            </a:r>
          </a:p>
          <a:p>
            <a:pPr algn="l">
              <a:lnSpc>
                <a:spcPts val="5039"/>
              </a:lnSpc>
              <a:spcBef>
                <a:spcPct val="0"/>
              </a:spcBef>
            </a:pPr>
            <a:endParaRPr lang="en-US" sz="3599" b="1">
              <a:solidFill>
                <a:srgbClr val="FFFFFF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  <a:p>
            <a:pPr marL="777234" lvl="1" indent="-388617" algn="l">
              <a:lnSpc>
                <a:spcPts val="5039"/>
              </a:lnSpc>
              <a:spcBef>
                <a:spcPct val="0"/>
              </a:spcBef>
              <a:buFont typeface="Arial"/>
              <a:buChar char="•"/>
            </a:pPr>
            <a:r>
              <a:rPr lang="en-US" sz="3599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Embedding &amp; Indexing: Sentence Transformers + FAISS vector store.</a:t>
            </a:r>
          </a:p>
          <a:p>
            <a:pPr algn="l">
              <a:lnSpc>
                <a:spcPts val="5039"/>
              </a:lnSpc>
              <a:spcBef>
                <a:spcPct val="0"/>
              </a:spcBef>
            </a:pPr>
            <a:endParaRPr lang="en-US" sz="3599" b="1">
              <a:solidFill>
                <a:srgbClr val="FFFFFF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  <a:p>
            <a:pPr marL="777234" lvl="1" indent="-388617" algn="l">
              <a:lnSpc>
                <a:spcPts val="5039"/>
              </a:lnSpc>
              <a:spcBef>
                <a:spcPct val="0"/>
              </a:spcBef>
              <a:buFont typeface="Arial"/>
              <a:buChar char="•"/>
            </a:pPr>
            <a:r>
              <a:rPr lang="en-US" sz="3599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Query Handling &amp; RAG: Top-K chunk retrieval + mt5-base LLM.</a:t>
            </a:r>
          </a:p>
          <a:p>
            <a:pPr algn="l">
              <a:lnSpc>
                <a:spcPts val="5039"/>
              </a:lnSpc>
              <a:spcBef>
                <a:spcPct val="0"/>
              </a:spcBef>
            </a:pPr>
            <a:endParaRPr lang="en-US" sz="3599" b="1">
              <a:solidFill>
                <a:srgbClr val="FFFFFF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  <a:p>
            <a:pPr marL="777234" lvl="1" indent="-388617" algn="l">
              <a:lnSpc>
                <a:spcPts val="5039"/>
              </a:lnSpc>
              <a:spcBef>
                <a:spcPct val="0"/>
              </a:spcBef>
              <a:buFont typeface="Arial"/>
              <a:buChar char="•"/>
            </a:pPr>
            <a:r>
              <a:rPr lang="en-US" sz="3599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User Interaction: Streamlit chat with upload support.</a:t>
            </a:r>
          </a:p>
          <a:p>
            <a:pPr algn="l">
              <a:lnSpc>
                <a:spcPts val="5039"/>
              </a:lnSpc>
              <a:spcBef>
                <a:spcPct val="0"/>
              </a:spcBef>
            </a:pPr>
            <a:endParaRPr lang="en-US" sz="3599" b="1">
              <a:solidFill>
                <a:srgbClr val="FFFFFF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648352" y="6988011"/>
            <a:ext cx="4620711" cy="6406532"/>
          </a:xfrm>
          <a:custGeom>
            <a:avLst/>
            <a:gdLst/>
            <a:ahLst/>
            <a:cxnLst/>
            <a:rect l="l" t="t" r="r" b="b"/>
            <a:pathLst>
              <a:path w="4620711" h="6406532">
                <a:moveTo>
                  <a:pt x="0" y="0"/>
                </a:moveTo>
                <a:lnTo>
                  <a:pt x="4620711" y="0"/>
                </a:lnTo>
                <a:lnTo>
                  <a:pt x="4620711" y="6406533"/>
                </a:lnTo>
                <a:lnTo>
                  <a:pt x="0" y="6406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20378" y="756625"/>
            <a:ext cx="16076659" cy="993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29"/>
              </a:lnSpc>
            </a:pPr>
            <a:r>
              <a:rPr lang="en-US" sz="7021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Implementation Highlights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688301" y="2073582"/>
            <a:ext cx="12911399" cy="401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4908" lvl="1" indent="-347454" algn="l">
              <a:lnSpc>
                <a:spcPts val="4506"/>
              </a:lnSpc>
              <a:buFont typeface="Arial"/>
              <a:buChar char="•"/>
            </a:pPr>
            <a:r>
              <a:rPr lang="en-US" sz="32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Dynamic Document Addition: Add user docs to FAISS on-the-fly.</a:t>
            </a:r>
          </a:p>
          <a:p>
            <a:pPr marL="694908" lvl="1" indent="-347454" algn="l">
              <a:lnSpc>
                <a:spcPts val="4506"/>
              </a:lnSpc>
              <a:buFont typeface="Arial"/>
              <a:buChar char="•"/>
            </a:pPr>
            <a:r>
              <a:rPr lang="en-US" sz="32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Multilingual Support: Arabic &amp; English handled.</a:t>
            </a:r>
          </a:p>
          <a:p>
            <a:pPr marL="694908" lvl="1" indent="-347454" algn="l">
              <a:lnSpc>
                <a:spcPts val="4506"/>
              </a:lnSpc>
              <a:buFont typeface="Arial"/>
              <a:buChar char="•"/>
            </a:pPr>
            <a:r>
              <a:rPr lang="en-US" sz="32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Citation Awareness: Each answer shows sources.</a:t>
            </a:r>
          </a:p>
          <a:p>
            <a:pPr marL="694908" lvl="1" indent="-347454" algn="l">
              <a:lnSpc>
                <a:spcPts val="4506"/>
              </a:lnSpc>
              <a:buFont typeface="Arial"/>
              <a:buChar char="•"/>
            </a:pPr>
            <a:r>
              <a:rPr lang="en-US" sz="32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Quick Question Buttons: Common queries for faster demo.</a:t>
            </a:r>
          </a:p>
          <a:p>
            <a:pPr marL="694908" lvl="1" indent="-347454" algn="l">
              <a:lnSpc>
                <a:spcPts val="4506"/>
              </a:lnSpc>
              <a:spcBef>
                <a:spcPct val="0"/>
              </a:spcBef>
              <a:buFont typeface="Arial"/>
              <a:buChar char="•"/>
            </a:pPr>
            <a:r>
              <a:rPr lang="en-US" sz="32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OCR Support: Reads text from uploaded images.</a:t>
            </a:r>
          </a:p>
          <a:p>
            <a:pPr algn="l">
              <a:lnSpc>
                <a:spcPts val="4506"/>
              </a:lnSpc>
              <a:spcBef>
                <a:spcPct val="0"/>
              </a:spcBef>
            </a:pPr>
            <a:endParaRPr lang="en-US" sz="3218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6421303" y="800264"/>
            <a:ext cx="986517" cy="68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7"/>
              </a:lnSpc>
              <a:spcBef>
                <a:spcPct val="0"/>
              </a:spcBef>
            </a:pPr>
            <a:r>
              <a:rPr lang="en-US" sz="3590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17" r="-331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580521" y="675587"/>
            <a:ext cx="10323592" cy="10323592"/>
          </a:xfrm>
          <a:custGeom>
            <a:avLst/>
            <a:gdLst/>
            <a:ahLst/>
            <a:cxnLst/>
            <a:rect l="l" t="t" r="r" b="b"/>
            <a:pathLst>
              <a:path w="10323592" h="10323592">
                <a:moveTo>
                  <a:pt x="0" y="0"/>
                </a:moveTo>
                <a:lnTo>
                  <a:pt x="10323592" y="0"/>
                </a:lnTo>
                <a:lnTo>
                  <a:pt x="10323592" y="10323591"/>
                </a:lnTo>
                <a:lnTo>
                  <a:pt x="0" y="103235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596870" y="2602538"/>
            <a:ext cx="3970782" cy="8229600"/>
          </a:xfrm>
          <a:custGeom>
            <a:avLst/>
            <a:gdLst/>
            <a:ahLst/>
            <a:cxnLst/>
            <a:rect l="l" t="t" r="r" b="b"/>
            <a:pathLst>
              <a:path w="3970782" h="8229600">
                <a:moveTo>
                  <a:pt x="0" y="0"/>
                </a:moveTo>
                <a:lnTo>
                  <a:pt x="3970782" y="0"/>
                </a:lnTo>
                <a:lnTo>
                  <a:pt x="39707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678302" y="-1121099"/>
            <a:ext cx="5216487" cy="5216487"/>
          </a:xfrm>
          <a:custGeom>
            <a:avLst/>
            <a:gdLst/>
            <a:ahLst/>
            <a:cxnLst/>
            <a:rect l="l" t="t" r="r" b="b"/>
            <a:pathLst>
              <a:path w="5216487" h="5216487">
                <a:moveTo>
                  <a:pt x="0" y="0"/>
                </a:moveTo>
                <a:lnTo>
                  <a:pt x="5216487" y="0"/>
                </a:lnTo>
                <a:lnTo>
                  <a:pt x="5216487" y="5216487"/>
                </a:lnTo>
                <a:lnTo>
                  <a:pt x="0" y="52164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421303" y="800264"/>
            <a:ext cx="986517" cy="68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7"/>
              </a:lnSpc>
              <a:spcBef>
                <a:spcPct val="0"/>
              </a:spcBef>
            </a:pPr>
            <a:r>
              <a:rPr lang="en-US" sz="3590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06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9683" y="455824"/>
            <a:ext cx="16454878" cy="993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29"/>
              </a:lnSpc>
            </a:pPr>
            <a:r>
              <a:rPr lang="en-US" sz="7021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Problems Solved &amp; Optimizations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02113" y="1945877"/>
            <a:ext cx="12461262" cy="6299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4908" lvl="1" indent="-347454" algn="just">
              <a:lnSpc>
                <a:spcPts val="4506"/>
              </a:lnSpc>
              <a:buFont typeface="Arial"/>
              <a:buChar char="•"/>
            </a:pPr>
            <a:r>
              <a:rPr lang="en-US" sz="32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Optimized chunk size for memory &amp; relevance.</a:t>
            </a:r>
          </a:p>
          <a:p>
            <a:pPr algn="just">
              <a:lnSpc>
                <a:spcPts val="4506"/>
              </a:lnSpc>
            </a:pPr>
            <a:endParaRPr lang="en-US" sz="3218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94908" lvl="1" indent="-347454" algn="just">
              <a:lnSpc>
                <a:spcPts val="4506"/>
              </a:lnSpc>
              <a:buFont typeface="Arial"/>
              <a:buChar char="•"/>
            </a:pPr>
            <a:r>
              <a:rPr lang="en-US" sz="32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Keyword filtering to reduce irrelevant results.</a:t>
            </a:r>
          </a:p>
          <a:p>
            <a:pPr algn="just">
              <a:lnSpc>
                <a:spcPts val="4506"/>
              </a:lnSpc>
            </a:pPr>
            <a:endParaRPr lang="en-US" sz="3218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94908" lvl="1" indent="-347454" algn="just">
              <a:lnSpc>
                <a:spcPts val="4506"/>
              </a:lnSpc>
              <a:buFont typeface="Arial"/>
              <a:buChar char="•"/>
            </a:pPr>
            <a:r>
              <a:rPr lang="en-US" sz="32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FAISS normalization fixed similarity scoring.</a:t>
            </a:r>
          </a:p>
          <a:p>
            <a:pPr algn="just">
              <a:lnSpc>
                <a:spcPts val="4506"/>
              </a:lnSpc>
            </a:pPr>
            <a:endParaRPr lang="en-US" sz="3218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94908" lvl="1" indent="-347454" algn="just">
              <a:lnSpc>
                <a:spcPts val="4506"/>
              </a:lnSpc>
              <a:buFont typeface="Arial"/>
              <a:buChar char="•"/>
            </a:pPr>
            <a:r>
              <a:rPr lang="en-US" sz="32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Custom Streamlit UI: chat bubbles, landing page.</a:t>
            </a:r>
          </a:p>
          <a:p>
            <a:pPr algn="just">
              <a:lnSpc>
                <a:spcPts val="4506"/>
              </a:lnSpc>
            </a:pPr>
            <a:endParaRPr lang="en-US" sz="3218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94908" lvl="1" indent="-347454" algn="just">
              <a:lnSpc>
                <a:spcPts val="4506"/>
              </a:lnSpc>
              <a:spcBef>
                <a:spcPct val="0"/>
              </a:spcBef>
              <a:buFont typeface="Arial"/>
              <a:buChar char="•"/>
            </a:pPr>
            <a:r>
              <a:rPr lang="en-US" sz="32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Error Handling: Missing index, unsupported files, empty responses.</a:t>
            </a:r>
          </a:p>
          <a:p>
            <a:pPr algn="just">
              <a:lnSpc>
                <a:spcPts val="4506"/>
              </a:lnSpc>
              <a:spcBef>
                <a:spcPct val="0"/>
              </a:spcBef>
            </a:pPr>
            <a:endParaRPr lang="en-US" sz="3218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246792" y="-570255"/>
            <a:ext cx="5910217" cy="5713755"/>
          </a:xfrm>
          <a:custGeom>
            <a:avLst/>
            <a:gdLst/>
            <a:ahLst/>
            <a:cxnLst/>
            <a:rect l="l" t="t" r="r" b="b"/>
            <a:pathLst>
              <a:path w="5910217" h="5713755">
                <a:moveTo>
                  <a:pt x="0" y="0"/>
                </a:moveTo>
                <a:lnTo>
                  <a:pt x="5910217" y="0"/>
                </a:lnTo>
                <a:lnTo>
                  <a:pt x="5910217" y="5713755"/>
                </a:lnTo>
                <a:lnTo>
                  <a:pt x="0" y="57137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328" y="1939030"/>
            <a:ext cx="6311835" cy="640894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36106" y="342288"/>
            <a:ext cx="16771713" cy="1821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29"/>
              </a:lnSpc>
            </a:pPr>
            <a:r>
              <a:rPr lang="en-US" sz="7021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Lessons Learned &amp; Future Improvements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23903" y="2377858"/>
            <a:ext cx="11341924" cy="6402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6699" lvl="1" indent="-358350" algn="just">
              <a:lnSpc>
                <a:spcPts val="4647"/>
              </a:lnSpc>
              <a:buFont typeface="Arial"/>
              <a:buChar char="•"/>
            </a:pPr>
            <a:r>
              <a:rPr lang="en-US" sz="33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Lessons Learned:</a:t>
            </a:r>
          </a:p>
          <a:p>
            <a:pPr marL="1433399" lvl="2" indent="-477800" algn="just">
              <a:lnSpc>
                <a:spcPts val="4647"/>
              </a:lnSpc>
              <a:buFont typeface="Arial"/>
              <a:buChar char="⚬"/>
            </a:pPr>
            <a:r>
              <a:rPr lang="en-US" sz="33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RAG pipeline implementation in practice.</a:t>
            </a:r>
          </a:p>
          <a:p>
            <a:pPr marL="1433399" lvl="2" indent="-477800" algn="just">
              <a:lnSpc>
                <a:spcPts val="4647"/>
              </a:lnSpc>
              <a:buFont typeface="Arial"/>
              <a:buChar char="⚬"/>
            </a:pPr>
            <a:r>
              <a:rPr lang="en-US" sz="33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Hardware &amp; software constraints handling.</a:t>
            </a:r>
          </a:p>
          <a:p>
            <a:pPr marL="1433399" lvl="2" indent="-477800" algn="just">
              <a:lnSpc>
                <a:spcPts val="4647"/>
              </a:lnSpc>
              <a:buFont typeface="Arial"/>
              <a:buChar char="⚬"/>
            </a:pPr>
            <a:r>
              <a:rPr lang="en-US" sz="33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Multilingual document processing &amp; indexing.</a:t>
            </a:r>
          </a:p>
          <a:p>
            <a:pPr marL="716699" lvl="1" indent="-358350" algn="just">
              <a:lnSpc>
                <a:spcPts val="4647"/>
              </a:lnSpc>
              <a:buFont typeface="Arial"/>
              <a:buChar char="•"/>
            </a:pPr>
            <a:r>
              <a:rPr lang="en-US" sz="33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Future Improvements:</a:t>
            </a:r>
          </a:p>
          <a:p>
            <a:pPr marL="1433399" lvl="2" indent="-477800" algn="just">
              <a:lnSpc>
                <a:spcPts val="4647"/>
              </a:lnSpc>
              <a:buFont typeface="Arial"/>
              <a:buChar char="⚬"/>
            </a:pPr>
            <a:r>
              <a:rPr lang="en-US" sz="33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Fine-tune Arabic LLM for dialect-specific answers.</a:t>
            </a:r>
          </a:p>
          <a:p>
            <a:pPr marL="1433399" lvl="2" indent="-477800" algn="just">
              <a:lnSpc>
                <a:spcPts val="4647"/>
              </a:lnSpc>
              <a:buFont typeface="Arial"/>
              <a:buChar char="⚬"/>
            </a:pPr>
            <a:r>
              <a:rPr lang="en-US" sz="33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Deploy on GPU server for faster inference.</a:t>
            </a:r>
          </a:p>
          <a:p>
            <a:pPr marL="1433399" lvl="2" indent="-477800" algn="just">
              <a:lnSpc>
                <a:spcPts val="4647"/>
              </a:lnSpc>
              <a:buFont typeface="Arial"/>
              <a:buChar char="⚬"/>
            </a:pPr>
            <a:r>
              <a:rPr lang="en-US" sz="33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Feedback-based ranking for answer accuracy.</a:t>
            </a:r>
          </a:p>
          <a:p>
            <a:pPr marL="1433399" lvl="2" indent="-477800" algn="just">
              <a:lnSpc>
                <a:spcPts val="4647"/>
              </a:lnSpc>
              <a:spcBef>
                <a:spcPct val="0"/>
              </a:spcBef>
              <a:buFont typeface="Arial"/>
              <a:buChar char="⚬"/>
            </a:pPr>
            <a:r>
              <a:rPr lang="en-US" sz="33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Session memory for contextual conversations.</a:t>
            </a:r>
          </a:p>
          <a:p>
            <a:pPr algn="just">
              <a:lnSpc>
                <a:spcPts val="4647"/>
              </a:lnSpc>
              <a:spcBef>
                <a:spcPct val="0"/>
              </a:spcBef>
            </a:pPr>
            <a:endParaRPr lang="en-US" sz="331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421303" y="800264"/>
            <a:ext cx="986517" cy="68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7"/>
              </a:lnSpc>
              <a:spcBef>
                <a:spcPct val="0"/>
              </a:spcBef>
            </a:pPr>
            <a:r>
              <a:rPr lang="en-US" sz="3590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744" y="-1311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444" r="-10809" b="-1604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16279" y="-460097"/>
            <a:ext cx="3362077" cy="3324253"/>
          </a:xfrm>
          <a:custGeom>
            <a:avLst/>
            <a:gdLst/>
            <a:ahLst/>
            <a:cxnLst/>
            <a:rect l="l" t="t" r="r" b="b"/>
            <a:pathLst>
              <a:path w="3362077" h="3324253">
                <a:moveTo>
                  <a:pt x="0" y="0"/>
                </a:moveTo>
                <a:lnTo>
                  <a:pt x="3362077" y="0"/>
                </a:lnTo>
                <a:lnTo>
                  <a:pt x="3362077" y="3324253"/>
                </a:lnTo>
                <a:lnTo>
                  <a:pt x="0" y="3324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23747" y="1344587"/>
            <a:ext cx="8339090" cy="10077450"/>
          </a:xfrm>
          <a:custGeom>
            <a:avLst/>
            <a:gdLst/>
            <a:ahLst/>
            <a:cxnLst/>
            <a:rect l="l" t="t" r="r" b="b"/>
            <a:pathLst>
              <a:path w="8339090" h="10077450">
                <a:moveTo>
                  <a:pt x="0" y="0"/>
                </a:moveTo>
                <a:lnTo>
                  <a:pt x="8339090" y="0"/>
                </a:lnTo>
                <a:lnTo>
                  <a:pt x="8339090" y="10077450"/>
                </a:lnTo>
                <a:lnTo>
                  <a:pt x="0" y="10077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612644" y="456652"/>
            <a:ext cx="12545044" cy="1248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96"/>
              </a:lnSpc>
            </a:pPr>
            <a:r>
              <a:rPr lang="en-US" sz="8920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Project Links &amp; Demo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31252" y="3355721"/>
            <a:ext cx="10490051" cy="3920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3318" lvl="1" indent="-336659" algn="just">
              <a:lnSpc>
                <a:spcPts val="4366"/>
              </a:lnSpc>
              <a:buFont typeface="Arial"/>
              <a:buChar char="•"/>
            </a:pPr>
            <a:r>
              <a:rPr lang="en-US" sz="311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GitHub: </a:t>
            </a:r>
            <a:r>
              <a:rPr lang="en-US" sz="311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5"/>
              </a:rPr>
              <a:t>https://github.com/mostafaqapil/WE_Chatbot</a:t>
            </a:r>
            <a:endParaRPr lang="en-US" sz="3118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36659" lvl="1" algn="just">
              <a:lnSpc>
                <a:spcPts val="4366"/>
              </a:lnSpc>
            </a:pPr>
            <a:endParaRPr lang="en-US" sz="3118" u="sng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  <a:hlinkClick r:id="rId5" tooltip="https://github.com/mostafaqapil/WE_Chatbot"/>
            </a:endParaRPr>
          </a:p>
          <a:p>
            <a:pPr marL="673318" lvl="1" indent="-336659" algn="just">
              <a:lnSpc>
                <a:spcPts val="4366"/>
              </a:lnSpc>
              <a:buFont typeface="Arial"/>
              <a:buChar char="•"/>
            </a:pPr>
            <a:r>
              <a:rPr lang="en-US" sz="311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Demo Video: </a:t>
            </a:r>
          </a:p>
          <a:p>
            <a:pPr marL="336659" lvl="1" algn="just">
              <a:lnSpc>
                <a:spcPts val="4366"/>
              </a:lnSpc>
            </a:pPr>
            <a:r>
              <a:rPr lang="en-US" sz="311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https://drive.google.com/drive/folders/1qZ5WzQRwksPgMPN2j67foi1hji0KFVFC?usp=sharing</a:t>
            </a:r>
          </a:p>
          <a:p>
            <a:pPr algn="just">
              <a:lnSpc>
                <a:spcPts val="4366"/>
              </a:lnSpc>
              <a:spcBef>
                <a:spcPct val="0"/>
              </a:spcBef>
            </a:pPr>
            <a:endParaRPr lang="en-US" sz="3118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421303" y="8469820"/>
            <a:ext cx="986517" cy="68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7"/>
              </a:lnSpc>
              <a:spcBef>
                <a:spcPct val="0"/>
              </a:spcBef>
            </a:pPr>
            <a:r>
              <a:rPr lang="en-US" sz="3590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08</a:t>
            </a:r>
          </a:p>
        </p:txBody>
      </p:sp>
      <p:sp>
        <p:nvSpPr>
          <p:cNvPr id="8" name="Freeform 8"/>
          <p:cNvSpPr/>
          <p:nvPr/>
        </p:nvSpPr>
        <p:spPr>
          <a:xfrm>
            <a:off x="3612644" y="7882264"/>
            <a:ext cx="2318608" cy="2292524"/>
          </a:xfrm>
          <a:custGeom>
            <a:avLst/>
            <a:gdLst/>
            <a:ahLst/>
            <a:cxnLst/>
            <a:rect l="l" t="t" r="r" b="b"/>
            <a:pathLst>
              <a:path w="2318608" h="2292524">
                <a:moveTo>
                  <a:pt x="0" y="0"/>
                </a:moveTo>
                <a:lnTo>
                  <a:pt x="2318608" y="0"/>
                </a:lnTo>
                <a:lnTo>
                  <a:pt x="2318608" y="2292523"/>
                </a:lnTo>
                <a:lnTo>
                  <a:pt x="0" y="22925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517060" y="717473"/>
            <a:ext cx="8852053" cy="8852053"/>
          </a:xfrm>
          <a:custGeom>
            <a:avLst/>
            <a:gdLst/>
            <a:ahLst/>
            <a:cxnLst/>
            <a:rect l="l" t="t" r="r" b="b"/>
            <a:pathLst>
              <a:path w="8852053" h="8852053">
                <a:moveTo>
                  <a:pt x="0" y="0"/>
                </a:moveTo>
                <a:lnTo>
                  <a:pt x="8852053" y="0"/>
                </a:lnTo>
                <a:lnTo>
                  <a:pt x="8852053" y="8852054"/>
                </a:lnTo>
                <a:lnTo>
                  <a:pt x="0" y="88520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757340" y="9361396"/>
            <a:ext cx="7315200" cy="1077329"/>
          </a:xfrm>
          <a:custGeom>
            <a:avLst/>
            <a:gdLst/>
            <a:ahLst/>
            <a:cxnLst/>
            <a:rect l="l" t="t" r="r" b="b"/>
            <a:pathLst>
              <a:path w="7315200" h="1077329">
                <a:moveTo>
                  <a:pt x="0" y="0"/>
                </a:moveTo>
                <a:lnTo>
                  <a:pt x="7315200" y="0"/>
                </a:lnTo>
                <a:lnTo>
                  <a:pt x="7315200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337543" y="409815"/>
            <a:ext cx="7315200" cy="1077329"/>
          </a:xfrm>
          <a:custGeom>
            <a:avLst/>
            <a:gdLst/>
            <a:ahLst/>
            <a:cxnLst/>
            <a:rect l="l" t="t" r="r" b="b"/>
            <a:pathLst>
              <a:path w="7315200" h="1077329">
                <a:moveTo>
                  <a:pt x="0" y="0"/>
                </a:moveTo>
                <a:lnTo>
                  <a:pt x="7315200" y="0"/>
                </a:lnTo>
                <a:lnTo>
                  <a:pt x="7315200" y="1077330"/>
                </a:lnTo>
                <a:lnTo>
                  <a:pt x="0" y="10773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517060" y="4302440"/>
            <a:ext cx="9253880" cy="1562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41"/>
              </a:lnSpc>
            </a:pPr>
            <a:r>
              <a:rPr lang="en-US" sz="11120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375</Words>
  <Application>Microsoft Office PowerPoint</Application>
  <PresentationFormat>Custom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Codec Pro Bold</vt:lpstr>
      <vt:lpstr>Calibri</vt:lpstr>
      <vt:lpstr>Academy</vt:lpstr>
      <vt:lpstr>Poppins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 Chatbot – RAG-based Intelligent Assistant</dc:title>
  <cp:lastModifiedBy>mostafa qapil</cp:lastModifiedBy>
  <cp:revision>2</cp:revision>
  <dcterms:created xsi:type="dcterms:W3CDTF">2006-08-16T00:00:00Z</dcterms:created>
  <dcterms:modified xsi:type="dcterms:W3CDTF">2026-01-06T18:49:37Z</dcterms:modified>
  <dc:identifier>DAG9qjWY_F0</dc:identifier>
</cp:coreProperties>
</file>